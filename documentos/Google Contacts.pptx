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84" r:id="rId1"/>
  </p:sldMasterIdLst>
  <p:notesMasterIdLst>
    <p:notesMasterId r:id="rId12"/>
  </p:notesMasterIdLst>
  <p:sldIdLst>
    <p:sldId id="256" r:id="rId2"/>
    <p:sldId id="258" r:id="rId3"/>
    <p:sldId id="305" r:id="rId4"/>
    <p:sldId id="259" r:id="rId5"/>
    <p:sldId id="260" r:id="rId6"/>
    <p:sldId id="306" r:id="rId7"/>
    <p:sldId id="308" r:id="rId8"/>
    <p:sldId id="310" r:id="rId9"/>
    <p:sldId id="309" r:id="rId10"/>
    <p:sldId id="307" r:id="rId1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CA9BFD4-E91C-4E58-A2FE-51EC10C1A289}">
  <a:tblStyle styleId="{4CA9BFD4-E91C-4E58-A2FE-51EC10C1A28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210" y="-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5ec259bc5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5ec259bc5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105f45958de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105f45958de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662018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105f45958de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105f45958de_0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105f45958de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105f45958de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4482954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94713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7833823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656191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681600" y="980400"/>
            <a:ext cx="7780800" cy="239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681600" y="3370500"/>
            <a:ext cx="77808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pic>
        <p:nvPicPr>
          <p:cNvPr id="11" name="Google Shape;11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1800001">
            <a:off x="420499" y="3086025"/>
            <a:ext cx="1630675" cy="1834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04900" y="2950426"/>
            <a:ext cx="5430749" cy="4254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8100000">
            <a:off x="879546" y="3611207"/>
            <a:ext cx="784589" cy="7845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164674">
            <a:off x="439471" y="340789"/>
            <a:ext cx="784588" cy="7845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4690383" flipH="1">
            <a:off x="7841862" y="108234"/>
            <a:ext cx="1064275" cy="11264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720000" y="2410200"/>
            <a:ext cx="7704000" cy="6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title" idx="2" hasCustomPrompt="1"/>
          </p:nvPr>
        </p:nvSpPr>
        <p:spPr>
          <a:xfrm>
            <a:off x="3731250" y="1492200"/>
            <a:ext cx="16815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9" name="Google Shape;19;p3"/>
          <p:cNvSpPr txBox="1">
            <a:spLocks noGrp="1"/>
          </p:cNvSpPr>
          <p:nvPr>
            <p:ph type="subTitle" idx="1"/>
          </p:nvPr>
        </p:nvSpPr>
        <p:spPr>
          <a:xfrm>
            <a:off x="1731150" y="3214200"/>
            <a:ext cx="5681700" cy="43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20" name="Google Shape;20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-1979250" y="-3144950"/>
            <a:ext cx="5277651" cy="67230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89349" y="152400"/>
            <a:ext cx="3202249" cy="2508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11125" y="409601"/>
            <a:ext cx="1459850" cy="145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8100000">
            <a:off x="352091" y="2844898"/>
            <a:ext cx="1318861" cy="13188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883100" y="1603025"/>
            <a:ext cx="3860700" cy="6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subTitle" idx="1"/>
          </p:nvPr>
        </p:nvSpPr>
        <p:spPr>
          <a:xfrm>
            <a:off x="883100" y="2260375"/>
            <a:ext cx="3860700" cy="128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57" name="Google Shape;57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5198723" y="372950"/>
            <a:ext cx="3565175" cy="4465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7240428" y="2763417"/>
            <a:ext cx="1379264" cy="145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3"/>
          <p:cNvSpPr txBox="1">
            <a:spLocks noGrp="1"/>
          </p:cNvSpPr>
          <p:nvPr>
            <p:ph type="title"/>
          </p:nvPr>
        </p:nvSpPr>
        <p:spPr>
          <a:xfrm>
            <a:off x="708600" y="445025"/>
            <a:ext cx="772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3"/>
          <p:cNvSpPr txBox="1">
            <a:spLocks noGrp="1"/>
          </p:cNvSpPr>
          <p:nvPr>
            <p:ph type="title" idx="2" hasCustomPrompt="1"/>
          </p:nvPr>
        </p:nvSpPr>
        <p:spPr>
          <a:xfrm>
            <a:off x="853509" y="1653856"/>
            <a:ext cx="1189200" cy="89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>
            <a:r>
              <a:t>xx%</a:t>
            </a:r>
          </a:p>
        </p:txBody>
      </p:sp>
      <p:sp>
        <p:nvSpPr>
          <p:cNvPr id="72" name="Google Shape;72;p13"/>
          <p:cNvSpPr txBox="1">
            <a:spLocks noGrp="1"/>
          </p:cNvSpPr>
          <p:nvPr>
            <p:ph type="title" idx="3"/>
          </p:nvPr>
        </p:nvSpPr>
        <p:spPr>
          <a:xfrm>
            <a:off x="2119075" y="1537200"/>
            <a:ext cx="2355600" cy="51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subTitle" idx="1"/>
          </p:nvPr>
        </p:nvSpPr>
        <p:spPr>
          <a:xfrm>
            <a:off x="2119075" y="2018050"/>
            <a:ext cx="2216400" cy="6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3"/>
          <p:cNvSpPr txBox="1">
            <a:spLocks noGrp="1"/>
          </p:cNvSpPr>
          <p:nvPr>
            <p:ph type="title" idx="4"/>
          </p:nvPr>
        </p:nvSpPr>
        <p:spPr>
          <a:xfrm>
            <a:off x="5858750" y="1537200"/>
            <a:ext cx="2355600" cy="51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subTitle" idx="5"/>
          </p:nvPr>
        </p:nvSpPr>
        <p:spPr>
          <a:xfrm>
            <a:off x="5858750" y="2018050"/>
            <a:ext cx="2216400" cy="6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title" idx="6"/>
          </p:nvPr>
        </p:nvSpPr>
        <p:spPr>
          <a:xfrm>
            <a:off x="2119050" y="3061625"/>
            <a:ext cx="2355600" cy="51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subTitle" idx="7"/>
          </p:nvPr>
        </p:nvSpPr>
        <p:spPr>
          <a:xfrm>
            <a:off x="2119050" y="3542400"/>
            <a:ext cx="2216400" cy="6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title" idx="8"/>
          </p:nvPr>
        </p:nvSpPr>
        <p:spPr>
          <a:xfrm>
            <a:off x="5858725" y="3061625"/>
            <a:ext cx="2355600" cy="51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ubTitle" idx="9"/>
          </p:nvPr>
        </p:nvSpPr>
        <p:spPr>
          <a:xfrm>
            <a:off x="5858725" y="3542400"/>
            <a:ext cx="2216400" cy="6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title" idx="13" hasCustomPrompt="1"/>
          </p:nvPr>
        </p:nvSpPr>
        <p:spPr>
          <a:xfrm>
            <a:off x="4595450" y="1653856"/>
            <a:ext cx="1189200" cy="89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>
            <a:r>
              <a:t>xx%</a:t>
            </a:r>
          </a:p>
        </p:txBody>
      </p:sp>
      <p:sp>
        <p:nvSpPr>
          <p:cNvPr id="81" name="Google Shape;81;p13"/>
          <p:cNvSpPr txBox="1">
            <a:spLocks noGrp="1"/>
          </p:cNvSpPr>
          <p:nvPr>
            <p:ph type="title" idx="14" hasCustomPrompt="1"/>
          </p:nvPr>
        </p:nvSpPr>
        <p:spPr>
          <a:xfrm>
            <a:off x="853450" y="3178281"/>
            <a:ext cx="1189200" cy="89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>
            <a:r>
              <a:t>xx%</a:t>
            </a:r>
          </a:p>
        </p:txBody>
      </p:sp>
      <p:sp>
        <p:nvSpPr>
          <p:cNvPr id="82" name="Google Shape;82;p13"/>
          <p:cNvSpPr txBox="1">
            <a:spLocks noGrp="1"/>
          </p:cNvSpPr>
          <p:nvPr>
            <p:ph type="title" idx="15" hasCustomPrompt="1"/>
          </p:nvPr>
        </p:nvSpPr>
        <p:spPr>
          <a:xfrm>
            <a:off x="4595450" y="3178281"/>
            <a:ext cx="1189200" cy="89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>
            <a:r>
              <a:t>xx%</a:t>
            </a:r>
          </a:p>
        </p:txBody>
      </p:sp>
      <p:pic>
        <p:nvPicPr>
          <p:cNvPr id="83" name="Google Shape;83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379886">
            <a:off x="7228550" y="-22174"/>
            <a:ext cx="1630675" cy="1834946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164674">
            <a:off x="8171321" y="1169139"/>
            <a:ext cx="784588" cy="7845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7">
  <p:cSld name="CUSTOM_21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1"/>
          <p:cNvSpPr txBox="1">
            <a:spLocks noGrp="1"/>
          </p:cNvSpPr>
          <p:nvPr>
            <p:ph type="title"/>
          </p:nvPr>
        </p:nvSpPr>
        <p:spPr>
          <a:xfrm>
            <a:off x="708600" y="445025"/>
            <a:ext cx="772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122" name="Google Shape;122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2846203" flipH="1">
            <a:off x="7179418" y="65276"/>
            <a:ext cx="1630675" cy="18349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29592" y="3573100"/>
            <a:ext cx="4710674" cy="369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8853805" flipH="1">
            <a:off x="7517741" y="571578"/>
            <a:ext cx="784590" cy="7845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26"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4519443">
            <a:off x="6772286" y="517044"/>
            <a:ext cx="2433749" cy="1906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4519406">
            <a:off x="6810445" y="289965"/>
            <a:ext cx="1081077" cy="10810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-1679024" y="593224"/>
            <a:ext cx="3684399" cy="4615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7557728">
            <a:off x="1376771" y="3369758"/>
            <a:ext cx="1090751" cy="11544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6959238">
            <a:off x="238309" y="907910"/>
            <a:ext cx="1038583" cy="10385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27"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706076" y="-1894000"/>
            <a:ext cx="3565175" cy="4465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10998" y="260723"/>
            <a:ext cx="1121725" cy="118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2846203">
            <a:off x="293574" y="65276"/>
            <a:ext cx="1630675" cy="18349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1095476" y="3573100"/>
            <a:ext cx="4710674" cy="369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3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8853805">
            <a:off x="801336" y="571578"/>
            <a:ext cx="784590" cy="7845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0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08600" y="445025"/>
            <a:ext cx="7726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useoModerno"/>
              <a:buNone/>
              <a:defRPr sz="2800">
                <a:solidFill>
                  <a:schemeClr val="lt1"/>
                </a:solidFill>
                <a:latin typeface="MuseoModerno"/>
                <a:ea typeface="MuseoModerno"/>
                <a:cs typeface="MuseoModerno"/>
                <a:sym typeface="MuseoModer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useoModerno"/>
              <a:buNone/>
              <a:defRPr sz="2800">
                <a:solidFill>
                  <a:schemeClr val="lt1"/>
                </a:solidFill>
                <a:latin typeface="MuseoModerno"/>
                <a:ea typeface="MuseoModerno"/>
                <a:cs typeface="MuseoModerno"/>
                <a:sym typeface="MuseoModer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useoModerno"/>
              <a:buNone/>
              <a:defRPr sz="2800">
                <a:solidFill>
                  <a:schemeClr val="lt1"/>
                </a:solidFill>
                <a:latin typeface="MuseoModerno"/>
                <a:ea typeface="MuseoModerno"/>
                <a:cs typeface="MuseoModerno"/>
                <a:sym typeface="MuseoModer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useoModerno"/>
              <a:buNone/>
              <a:defRPr sz="2800">
                <a:solidFill>
                  <a:schemeClr val="lt1"/>
                </a:solidFill>
                <a:latin typeface="MuseoModerno"/>
                <a:ea typeface="MuseoModerno"/>
                <a:cs typeface="MuseoModerno"/>
                <a:sym typeface="MuseoModer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useoModerno"/>
              <a:buNone/>
              <a:defRPr sz="2800">
                <a:solidFill>
                  <a:schemeClr val="lt1"/>
                </a:solidFill>
                <a:latin typeface="MuseoModerno"/>
                <a:ea typeface="MuseoModerno"/>
                <a:cs typeface="MuseoModerno"/>
                <a:sym typeface="MuseoModer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useoModerno"/>
              <a:buNone/>
              <a:defRPr sz="2800">
                <a:solidFill>
                  <a:schemeClr val="lt1"/>
                </a:solidFill>
                <a:latin typeface="MuseoModerno"/>
                <a:ea typeface="MuseoModerno"/>
                <a:cs typeface="MuseoModerno"/>
                <a:sym typeface="MuseoModer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useoModerno"/>
              <a:buNone/>
              <a:defRPr sz="2800">
                <a:solidFill>
                  <a:schemeClr val="lt1"/>
                </a:solidFill>
                <a:latin typeface="MuseoModerno"/>
                <a:ea typeface="MuseoModerno"/>
                <a:cs typeface="MuseoModerno"/>
                <a:sym typeface="MuseoModer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useoModerno"/>
              <a:buNone/>
              <a:defRPr sz="2800">
                <a:solidFill>
                  <a:schemeClr val="lt1"/>
                </a:solidFill>
                <a:latin typeface="MuseoModerno"/>
                <a:ea typeface="MuseoModerno"/>
                <a:cs typeface="MuseoModerno"/>
                <a:sym typeface="MuseoModer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useoModerno"/>
              <a:buNone/>
              <a:defRPr sz="2800">
                <a:solidFill>
                  <a:schemeClr val="lt1"/>
                </a:solidFill>
                <a:latin typeface="MuseoModerno"/>
                <a:ea typeface="MuseoModerno"/>
                <a:cs typeface="MuseoModerno"/>
                <a:sym typeface="MuseoModern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08600" y="1152475"/>
            <a:ext cx="7726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ven Pro"/>
              <a:buChar char="●"/>
              <a:defRPr sz="18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○"/>
              <a:defRPr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■"/>
              <a:defRPr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●"/>
              <a:defRPr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○"/>
              <a:defRPr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■"/>
              <a:defRPr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●"/>
              <a:defRPr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○"/>
              <a:defRPr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■"/>
              <a:defRPr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5" r:id="rId3"/>
    <p:sldLayoutId id="2147483658" r:id="rId4"/>
    <p:sldLayoutId id="2147483659" r:id="rId5"/>
    <p:sldLayoutId id="2147483667" r:id="rId6"/>
    <p:sldLayoutId id="2147483681" r:id="rId7"/>
    <p:sldLayoutId id="2147483682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9"/>
          <p:cNvSpPr txBox="1">
            <a:spLocks noGrp="1"/>
          </p:cNvSpPr>
          <p:nvPr>
            <p:ph type="ctrTitle"/>
          </p:nvPr>
        </p:nvSpPr>
        <p:spPr>
          <a:xfrm>
            <a:off x="681600" y="980400"/>
            <a:ext cx="7780800" cy="239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Contactos de google</a:t>
            </a:r>
            <a:endParaRPr dirty="0">
              <a:latin typeface="MuseoModerno ExtraBold"/>
              <a:ea typeface="MuseoModerno ExtraBold"/>
              <a:cs typeface="MuseoModerno ExtraBold"/>
              <a:sym typeface="MuseoModerno ExtraBold"/>
            </a:endParaRPr>
          </a:p>
        </p:txBody>
      </p:sp>
      <p:sp>
        <p:nvSpPr>
          <p:cNvPr id="266" name="Google Shape;266;p39"/>
          <p:cNvSpPr txBox="1">
            <a:spLocks noGrp="1"/>
          </p:cNvSpPr>
          <p:nvPr>
            <p:ph type="subTitle" idx="1"/>
          </p:nvPr>
        </p:nvSpPr>
        <p:spPr>
          <a:xfrm>
            <a:off x="681600" y="3370500"/>
            <a:ext cx="77808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Héctor Eduardo Camberos Ochoa</a:t>
            </a:r>
            <a:endParaRPr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3FC6BE7-A7EB-4B25-98F5-9E14249839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7785" y="1631385"/>
            <a:ext cx="1868429" cy="1868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" name="Google Shape;277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1224464">
            <a:off x="925927" y="1538048"/>
            <a:ext cx="1064421" cy="11241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59742" y="1651746"/>
            <a:ext cx="892485" cy="89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21457" y="3182471"/>
            <a:ext cx="892485" cy="89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41"/>
          <p:cNvSpPr txBox="1">
            <a:spLocks noGrp="1"/>
          </p:cNvSpPr>
          <p:nvPr>
            <p:ph type="title"/>
          </p:nvPr>
        </p:nvSpPr>
        <p:spPr>
          <a:xfrm>
            <a:off x="708600" y="445025"/>
            <a:ext cx="772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ea typeface="MuseoModerno ExtraBold"/>
                <a:cs typeface="MuseoModerno ExtraBold"/>
              </a:rPr>
              <a:t>Contenidos </a:t>
            </a:r>
            <a:endParaRPr dirty="0">
              <a:latin typeface="MuseoModerno ExtraBold"/>
              <a:ea typeface="MuseoModerno ExtraBold"/>
              <a:cs typeface="MuseoModerno ExtraBold"/>
              <a:sym typeface="MuseoModerno ExtraBold"/>
            </a:endParaRPr>
          </a:p>
        </p:txBody>
      </p:sp>
      <p:sp>
        <p:nvSpPr>
          <p:cNvPr id="282" name="Google Shape;282;p41"/>
          <p:cNvSpPr txBox="1">
            <a:spLocks noGrp="1"/>
          </p:cNvSpPr>
          <p:nvPr>
            <p:ph type="title" idx="2"/>
          </p:nvPr>
        </p:nvSpPr>
        <p:spPr>
          <a:xfrm>
            <a:off x="853509" y="1653856"/>
            <a:ext cx="1189200" cy="89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283" name="Google Shape;283;p41"/>
          <p:cNvSpPr txBox="1">
            <a:spLocks noGrp="1"/>
          </p:cNvSpPr>
          <p:nvPr>
            <p:ph type="title" idx="3"/>
          </p:nvPr>
        </p:nvSpPr>
        <p:spPr>
          <a:xfrm>
            <a:off x="2119075" y="1781751"/>
            <a:ext cx="2355600" cy="51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Fuentes</a:t>
            </a:r>
            <a:endParaRPr b="1" dirty="0"/>
          </a:p>
        </p:txBody>
      </p:sp>
      <p:sp>
        <p:nvSpPr>
          <p:cNvPr id="285" name="Google Shape;285;p41"/>
          <p:cNvSpPr txBox="1">
            <a:spLocks noGrp="1"/>
          </p:cNvSpPr>
          <p:nvPr>
            <p:ph type="title" idx="4"/>
          </p:nvPr>
        </p:nvSpPr>
        <p:spPr>
          <a:xfrm>
            <a:off x="5858750" y="1749856"/>
            <a:ext cx="2355600" cy="51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Información</a:t>
            </a:r>
            <a:endParaRPr b="1" dirty="0"/>
          </a:p>
        </p:txBody>
      </p:sp>
      <p:sp>
        <p:nvSpPr>
          <p:cNvPr id="287" name="Google Shape;287;p41"/>
          <p:cNvSpPr txBox="1">
            <a:spLocks noGrp="1"/>
          </p:cNvSpPr>
          <p:nvPr>
            <p:ph type="title" idx="6"/>
          </p:nvPr>
        </p:nvSpPr>
        <p:spPr>
          <a:xfrm>
            <a:off x="4128609" y="3274271"/>
            <a:ext cx="2355600" cy="51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Conclusiones</a:t>
            </a:r>
            <a:endParaRPr b="1" dirty="0"/>
          </a:p>
        </p:txBody>
      </p:sp>
      <p:sp>
        <p:nvSpPr>
          <p:cNvPr id="291" name="Google Shape;291;p41"/>
          <p:cNvSpPr txBox="1">
            <a:spLocks noGrp="1"/>
          </p:cNvSpPr>
          <p:nvPr>
            <p:ph type="title" idx="13"/>
          </p:nvPr>
        </p:nvSpPr>
        <p:spPr>
          <a:xfrm>
            <a:off x="4595450" y="1653856"/>
            <a:ext cx="1189200" cy="89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292" name="Google Shape;292;p41"/>
          <p:cNvSpPr txBox="1">
            <a:spLocks noGrp="1"/>
          </p:cNvSpPr>
          <p:nvPr>
            <p:ph type="title" idx="14"/>
          </p:nvPr>
        </p:nvSpPr>
        <p:spPr>
          <a:xfrm>
            <a:off x="2863009" y="3178281"/>
            <a:ext cx="1189200" cy="89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Google Shape;304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1224444">
            <a:off x="3947198" y="1332036"/>
            <a:ext cx="1296933" cy="1369634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43"/>
          <p:cNvSpPr txBox="1">
            <a:spLocks noGrp="1"/>
          </p:cNvSpPr>
          <p:nvPr>
            <p:ph type="title"/>
          </p:nvPr>
        </p:nvSpPr>
        <p:spPr>
          <a:xfrm>
            <a:off x="720000" y="2410200"/>
            <a:ext cx="7704000" cy="6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Fuentes</a:t>
            </a:r>
            <a:endParaRPr b="1" dirty="0"/>
          </a:p>
        </p:txBody>
      </p:sp>
      <p:sp>
        <p:nvSpPr>
          <p:cNvPr id="306" name="Google Shape;306;p43"/>
          <p:cNvSpPr txBox="1">
            <a:spLocks noGrp="1"/>
          </p:cNvSpPr>
          <p:nvPr>
            <p:ph type="title" idx="2"/>
          </p:nvPr>
        </p:nvSpPr>
        <p:spPr>
          <a:xfrm>
            <a:off x="3731250" y="1492200"/>
            <a:ext cx="16815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07" name="Google Shape;307;p43"/>
          <p:cNvSpPr txBox="1">
            <a:spLocks noGrp="1"/>
          </p:cNvSpPr>
          <p:nvPr>
            <p:ph type="subTitle" idx="1"/>
          </p:nvPr>
        </p:nvSpPr>
        <p:spPr>
          <a:xfrm>
            <a:off x="1731150" y="3214200"/>
            <a:ext cx="5681700" cy="43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s-MX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Ninguna investigación está completa si no se aborda con el rigor necesario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30830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2"/>
          <p:cNvSpPr txBox="1">
            <a:spLocks noGrp="1"/>
          </p:cNvSpPr>
          <p:nvPr>
            <p:ph type="title"/>
          </p:nvPr>
        </p:nvSpPr>
        <p:spPr>
          <a:xfrm>
            <a:off x="287080" y="273955"/>
            <a:ext cx="5571460" cy="6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Fuentes utilizadas</a:t>
            </a:r>
            <a:endParaRPr b="1" dirty="0"/>
          </a:p>
        </p:txBody>
      </p:sp>
      <p:sp>
        <p:nvSpPr>
          <p:cNvPr id="299" name="Google Shape;299;p42"/>
          <p:cNvSpPr txBox="1">
            <a:spLocks noGrp="1"/>
          </p:cNvSpPr>
          <p:nvPr>
            <p:ph type="subTitle" idx="1"/>
          </p:nvPr>
        </p:nvSpPr>
        <p:spPr>
          <a:xfrm>
            <a:off x="174171" y="2260375"/>
            <a:ext cx="8781143" cy="128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es-MX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[1] Hayes, B. (2008). Cloud </a:t>
            </a:r>
            <a:r>
              <a:rPr lang="es-MX" sz="1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computing</a:t>
            </a:r>
            <a:r>
              <a:rPr lang="es-MX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es-MX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[2]  De Parga, D. C. J. (2011). Cloud </a:t>
            </a:r>
            <a:r>
              <a:rPr lang="es-MX" sz="1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computing</a:t>
            </a:r>
            <a:r>
              <a:rPr lang="es-MX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retos y oportunidades. Fundación Ideas.</a:t>
            </a:r>
          </a:p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es-MX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[3]  </a:t>
            </a:r>
            <a:r>
              <a:rPr lang="es-MX" sz="1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Antonopoulos</a:t>
            </a:r>
            <a:r>
              <a:rPr lang="es-MX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N., &amp; </a:t>
            </a:r>
            <a:r>
              <a:rPr lang="es-MX" sz="1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Gillam</a:t>
            </a:r>
            <a:r>
              <a:rPr lang="es-MX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L. (2010). Cloud </a:t>
            </a:r>
            <a:r>
              <a:rPr lang="es-MX" sz="1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computing</a:t>
            </a:r>
            <a:r>
              <a:rPr lang="es-MX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London: Springer.</a:t>
            </a:r>
          </a:p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es-MX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[4]  </a:t>
            </a:r>
            <a:r>
              <a:rPr lang="es-MX" sz="1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Kovachev</a:t>
            </a:r>
            <a:r>
              <a:rPr lang="es-MX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 (2012). Framework </a:t>
            </a:r>
            <a:r>
              <a:rPr lang="es-MX" sz="1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</a:t>
            </a:r>
            <a:r>
              <a:rPr lang="es-MX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MX" sz="1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computation</a:t>
            </a:r>
            <a:r>
              <a:rPr lang="es-MX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MX" sz="1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offloading</a:t>
            </a:r>
            <a:r>
              <a:rPr lang="es-MX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 </a:t>
            </a:r>
            <a:r>
              <a:rPr lang="es-MX" sz="1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mobile</a:t>
            </a:r>
            <a:r>
              <a:rPr lang="es-MX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MX" sz="1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cloud</a:t>
            </a:r>
            <a:r>
              <a:rPr lang="es-MX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MX" sz="1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computing</a:t>
            </a:r>
            <a:r>
              <a:rPr lang="es-MX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 IJIMAI, 1(7), 6-15.</a:t>
            </a:r>
          </a:p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es-MX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[5]  Brian, H., </a:t>
            </a:r>
            <a:r>
              <a:rPr lang="es-MX" sz="1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Brunschwiler</a:t>
            </a:r>
            <a:r>
              <a:rPr lang="es-MX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T., </a:t>
            </a:r>
            <a:r>
              <a:rPr lang="es-MX" sz="1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Dill</a:t>
            </a:r>
            <a:r>
              <a:rPr lang="es-MX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H., </a:t>
            </a:r>
            <a:r>
              <a:rPr lang="es-MX" sz="1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Christ</a:t>
            </a:r>
            <a:r>
              <a:rPr lang="es-MX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H., </a:t>
            </a:r>
            <a:r>
              <a:rPr lang="es-MX" sz="1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Falsafi</a:t>
            </a:r>
            <a:r>
              <a:rPr lang="es-MX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B., Fischer, M., ... &amp; </a:t>
            </a:r>
            <a:r>
              <a:rPr lang="es-MX" sz="1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Zollinger</a:t>
            </a:r>
            <a:r>
              <a:rPr lang="es-MX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M. (2008). Cloud </a:t>
            </a:r>
            <a:r>
              <a:rPr lang="es-MX" sz="1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computing</a:t>
            </a:r>
            <a:r>
              <a:rPr lang="es-MX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 </a:t>
            </a:r>
            <a:r>
              <a:rPr lang="es-MX" sz="1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Communications</a:t>
            </a:r>
            <a:r>
              <a:rPr lang="es-MX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MX" sz="1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of</a:t>
            </a:r>
            <a:r>
              <a:rPr lang="es-MX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MX" sz="1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es-MX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ACM, 51(7), 9-11.</a:t>
            </a:r>
          </a:p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es-MX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[6]  </a:t>
            </a:r>
            <a:r>
              <a:rPr lang="es-MX" sz="1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Ruparelia</a:t>
            </a:r>
            <a:r>
              <a:rPr lang="es-MX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N. B. (2016). Cloud </a:t>
            </a:r>
            <a:r>
              <a:rPr lang="es-MX" sz="1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computing</a:t>
            </a:r>
            <a:r>
              <a:rPr lang="es-MX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s-MX" sz="1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Mit</a:t>
            </a:r>
            <a:r>
              <a:rPr lang="es-MX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MX" sz="1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Press</a:t>
            </a:r>
            <a:r>
              <a:rPr lang="es-MX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es-MX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[7]  </a:t>
            </a:r>
            <a:r>
              <a:rPr lang="es-MX" sz="1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Rajaraman</a:t>
            </a:r>
            <a:r>
              <a:rPr lang="es-MX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V. (2014). Cloud </a:t>
            </a:r>
            <a:r>
              <a:rPr lang="es-MX" sz="1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computing</a:t>
            </a:r>
            <a:r>
              <a:rPr lang="es-MX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 </a:t>
            </a:r>
            <a:r>
              <a:rPr lang="es-MX" sz="1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Resonance</a:t>
            </a:r>
            <a:r>
              <a:rPr lang="es-MX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 19(3), 242-258.</a:t>
            </a:r>
          </a:p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es-MX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[8]  Mobile, M. C. (2020). </a:t>
            </a:r>
            <a:r>
              <a:rPr lang="es-MX" sz="1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</a:t>
            </a:r>
            <a:r>
              <a:rPr lang="es-MX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MX" sz="1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</a:t>
            </a:r>
            <a:r>
              <a:rPr lang="es-MX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MX" sz="1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Sync</a:t>
            </a:r>
            <a:r>
              <a:rPr lang="es-MX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Google </a:t>
            </a:r>
            <a:r>
              <a:rPr lang="es-MX" sz="1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Contacts</a:t>
            </a:r>
            <a:r>
              <a:rPr lang="es-MX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Virtual Office Mobile.</a:t>
            </a:r>
          </a:p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es-MX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[9]  </a:t>
            </a:r>
            <a:r>
              <a:rPr lang="es-MX" sz="1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Petrychkovych</a:t>
            </a:r>
            <a:r>
              <a:rPr lang="es-MX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T. (2016). Qt </a:t>
            </a:r>
            <a:r>
              <a:rPr lang="es-MX" sz="1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desktopový</a:t>
            </a:r>
            <a:r>
              <a:rPr lang="es-MX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MX" sz="1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klient</a:t>
            </a:r>
            <a:r>
              <a:rPr lang="es-MX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Google </a:t>
            </a:r>
            <a:r>
              <a:rPr lang="es-MX" sz="1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Contacts</a:t>
            </a:r>
            <a:r>
              <a:rPr lang="es-MX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(</a:t>
            </a:r>
            <a:r>
              <a:rPr lang="es-MX" sz="1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Bachelor's</a:t>
            </a:r>
            <a:r>
              <a:rPr lang="es-MX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MX" sz="1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thesis</a:t>
            </a:r>
            <a:r>
              <a:rPr lang="es-MX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s-MX" sz="1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České</a:t>
            </a:r>
            <a:r>
              <a:rPr lang="es-MX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MX" sz="1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vysoké</a:t>
            </a:r>
            <a:r>
              <a:rPr lang="es-MX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MX" sz="1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učení</a:t>
            </a:r>
            <a:r>
              <a:rPr lang="es-MX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MX" sz="1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technické</a:t>
            </a:r>
            <a:r>
              <a:rPr lang="es-MX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v </a:t>
            </a:r>
            <a:r>
              <a:rPr lang="es-MX" sz="1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Praze</a:t>
            </a:r>
            <a:r>
              <a:rPr lang="es-MX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s-MX" sz="1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Vypočetní</a:t>
            </a:r>
            <a:r>
              <a:rPr lang="es-MX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 </a:t>
            </a:r>
            <a:r>
              <a:rPr lang="es-MX" sz="1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informační</a:t>
            </a:r>
            <a:r>
              <a:rPr lang="es-MX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MX" sz="1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centrum</a:t>
            </a:r>
            <a:r>
              <a:rPr lang="es-MX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.).</a:t>
            </a:r>
          </a:p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es-MX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[10]  </a:t>
            </a:r>
            <a:r>
              <a:rPr lang="es-MX" sz="1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Liljeros</a:t>
            </a:r>
            <a:r>
              <a:rPr lang="es-MX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F., </a:t>
            </a:r>
            <a:r>
              <a:rPr lang="es-MX" sz="1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Edling</a:t>
            </a:r>
            <a:r>
              <a:rPr lang="es-MX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C. R., Amaral, L. A. N., Stanley, H. E., &amp; </a:t>
            </a:r>
            <a:r>
              <a:rPr lang="es-MX" sz="1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Åberg</a:t>
            </a:r>
            <a:r>
              <a:rPr lang="es-MX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Y. (2001). </a:t>
            </a:r>
            <a:r>
              <a:rPr lang="es-MX" sz="1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es-MX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web </a:t>
            </a:r>
            <a:r>
              <a:rPr lang="es-MX" sz="1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of</a:t>
            </a:r>
            <a:r>
              <a:rPr lang="es-MX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human sexual </a:t>
            </a:r>
            <a:r>
              <a:rPr lang="es-MX" sz="1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contacts</a:t>
            </a:r>
            <a:r>
              <a:rPr lang="es-MX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 </a:t>
            </a:r>
            <a:r>
              <a:rPr lang="es-MX" sz="1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Nature</a:t>
            </a:r>
            <a:r>
              <a:rPr lang="es-MX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 411(6840), 907-908.</a:t>
            </a:r>
          </a:p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es-MX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[11]  </a:t>
            </a:r>
            <a:r>
              <a:rPr lang="es-MX" sz="1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Alemasov</a:t>
            </a:r>
            <a:r>
              <a:rPr lang="es-MX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V. E. (1964). THE THEORY OF ROCKET ENGINES. FOREIGN TECHNOLOGY DIV WRIGHT-PATTERSON AFB OHIO.</a:t>
            </a:r>
          </a:p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es-MX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[12] Sutton, G. P. (2006). </a:t>
            </a:r>
            <a:r>
              <a:rPr lang="es-MX" sz="1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History</a:t>
            </a:r>
            <a:r>
              <a:rPr lang="es-MX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MX" sz="1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of</a:t>
            </a:r>
            <a:r>
              <a:rPr lang="es-MX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MX" sz="1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liquid</a:t>
            </a:r>
            <a:r>
              <a:rPr lang="es-MX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MX" sz="1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propellant</a:t>
            </a:r>
            <a:r>
              <a:rPr lang="es-MX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MX" sz="1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rocket</a:t>
            </a:r>
            <a:r>
              <a:rPr lang="es-MX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MX" sz="1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engines</a:t>
            </a:r>
            <a:r>
              <a:rPr lang="es-MX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AIAA.</a:t>
            </a:r>
          </a:p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es-MX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[13]  </a:t>
            </a:r>
            <a:r>
              <a:rPr lang="es-MX" sz="1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Haidn</a:t>
            </a:r>
            <a:r>
              <a:rPr lang="es-MX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O. J. (2008). </a:t>
            </a:r>
            <a:r>
              <a:rPr lang="es-MX" sz="1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Advanced</a:t>
            </a:r>
            <a:r>
              <a:rPr lang="es-MX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MX" sz="1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rocket</a:t>
            </a:r>
            <a:r>
              <a:rPr lang="es-MX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MX" sz="1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engines</a:t>
            </a:r>
            <a:r>
              <a:rPr lang="es-MX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 </a:t>
            </a:r>
            <a:r>
              <a:rPr lang="es-MX" sz="1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Advances</a:t>
            </a:r>
            <a:r>
              <a:rPr lang="es-MX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MX" sz="1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  <a:r>
              <a:rPr lang="es-MX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MX" sz="1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propulsion</a:t>
            </a:r>
            <a:r>
              <a:rPr lang="es-MX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MX" sz="1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technology</a:t>
            </a:r>
            <a:r>
              <a:rPr lang="es-MX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MX" sz="1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</a:t>
            </a:r>
            <a:r>
              <a:rPr lang="es-MX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MX" sz="1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high-speed</a:t>
            </a:r>
            <a:r>
              <a:rPr lang="es-MX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MX" sz="1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aircraft</a:t>
            </a:r>
            <a:r>
              <a:rPr lang="es-MX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 1, 6-1.</a:t>
            </a:r>
          </a:p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es-MX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[14]  Epstein, A., </a:t>
            </a:r>
            <a:r>
              <a:rPr lang="es-MX" sz="1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Senturia</a:t>
            </a:r>
            <a:r>
              <a:rPr lang="es-MX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S., Al-</a:t>
            </a:r>
            <a:r>
              <a:rPr lang="es-MX" sz="1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Midani</a:t>
            </a:r>
            <a:r>
              <a:rPr lang="es-MX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O., </a:t>
            </a:r>
            <a:r>
              <a:rPr lang="es-MX" sz="1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Anathasuresh</a:t>
            </a:r>
            <a:r>
              <a:rPr lang="es-MX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G., Epstein, A., </a:t>
            </a:r>
            <a:r>
              <a:rPr lang="es-MX" sz="1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Senturia</a:t>
            </a:r>
            <a:r>
              <a:rPr lang="es-MX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S., ... &amp; </a:t>
            </a:r>
            <a:r>
              <a:rPr lang="es-MX" sz="1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Frechette</a:t>
            </a:r>
            <a:r>
              <a:rPr lang="es-MX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L. (1997, June). </a:t>
            </a:r>
            <a:r>
              <a:rPr lang="es-MX" sz="1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Micro-heat</a:t>
            </a:r>
            <a:r>
              <a:rPr lang="es-MX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MX" sz="1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engines</a:t>
            </a:r>
            <a:r>
              <a:rPr lang="es-MX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gas turbines, and </a:t>
            </a:r>
            <a:r>
              <a:rPr lang="es-MX" sz="1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rocket</a:t>
            </a:r>
            <a:r>
              <a:rPr lang="es-MX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MX" sz="1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engines-The</a:t>
            </a:r>
            <a:r>
              <a:rPr lang="es-MX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MIT </a:t>
            </a:r>
            <a:r>
              <a:rPr lang="es-MX" sz="1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microengine</a:t>
            </a:r>
            <a:r>
              <a:rPr lang="es-MX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MX" sz="1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project</a:t>
            </a:r>
            <a:r>
              <a:rPr lang="es-MX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In 28th Fluid </a:t>
            </a:r>
            <a:r>
              <a:rPr lang="es-MX" sz="1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dynamics</a:t>
            </a:r>
            <a:r>
              <a:rPr lang="es-MX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MX" sz="1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conference</a:t>
            </a:r>
            <a:r>
              <a:rPr lang="es-MX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(p. 1773).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Google Shape;304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1224444">
            <a:off x="3947198" y="1332036"/>
            <a:ext cx="1296933" cy="1369634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43"/>
          <p:cNvSpPr txBox="1">
            <a:spLocks noGrp="1"/>
          </p:cNvSpPr>
          <p:nvPr>
            <p:ph type="title"/>
          </p:nvPr>
        </p:nvSpPr>
        <p:spPr>
          <a:xfrm>
            <a:off x="720000" y="2553075"/>
            <a:ext cx="7704000" cy="6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¿Qué es Google Contacts?</a:t>
            </a:r>
            <a:endParaRPr b="1" dirty="0"/>
          </a:p>
        </p:txBody>
      </p:sp>
      <p:sp>
        <p:nvSpPr>
          <p:cNvPr id="306" name="Google Shape;306;p43"/>
          <p:cNvSpPr txBox="1">
            <a:spLocks noGrp="1"/>
          </p:cNvSpPr>
          <p:nvPr>
            <p:ph type="title" idx="2"/>
          </p:nvPr>
        </p:nvSpPr>
        <p:spPr>
          <a:xfrm>
            <a:off x="3731250" y="1492200"/>
            <a:ext cx="16815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88C8C130-026C-4C37-B129-64F03E9A75DE}"/>
              </a:ext>
            </a:extLst>
          </p:cNvPr>
          <p:cNvSpPr/>
          <p:nvPr/>
        </p:nvSpPr>
        <p:spPr>
          <a:xfrm>
            <a:off x="-66675" y="0"/>
            <a:ext cx="9210675" cy="542834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EF90FB5-69C7-4BC8-AEE1-7406F1AAF0E3}"/>
              </a:ext>
            </a:extLst>
          </p:cNvPr>
          <p:cNvSpPr txBox="1"/>
          <p:nvPr/>
        </p:nvSpPr>
        <p:spPr>
          <a:xfrm>
            <a:off x="1563233" y="2571750"/>
            <a:ext cx="595085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Contactos de Google es la herramienta de administración de contactos de Google que se encuentra disponible en su servicio gratis de correo Gmail, como servicio independiente, y como parte de la serie integrada de aplicaciones web de Google para empresas Google Apps.</a:t>
            </a:r>
          </a:p>
        </p:txBody>
      </p:sp>
    </p:spTree>
    <p:extLst>
      <p:ext uri="{BB962C8B-B14F-4D97-AF65-F5344CB8AC3E}">
        <p14:creationId xmlns:p14="http://schemas.microsoft.com/office/powerpoint/2010/main" val="41776105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88C8C130-026C-4C37-B129-64F03E9A75DE}"/>
              </a:ext>
            </a:extLst>
          </p:cNvPr>
          <p:cNvSpPr/>
          <p:nvPr/>
        </p:nvSpPr>
        <p:spPr>
          <a:xfrm>
            <a:off x="-66675" y="0"/>
            <a:ext cx="9210675" cy="542834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3074" name="Picture 2" descr="gracias capo | Imagenes de risa memes, Memes divertidos, Memes para  comentarios">
            <a:extLst>
              <a:ext uri="{FF2B5EF4-FFF2-40B4-BE49-F238E27FC236}">
                <a16:creationId xmlns:a16="http://schemas.microsoft.com/office/drawing/2014/main" id="{90A0F2DA-0C6A-4A9B-93BC-BE3CFDE843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9300" y="0"/>
            <a:ext cx="51054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38007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88C8C130-026C-4C37-B129-64F03E9A75DE}"/>
              </a:ext>
            </a:extLst>
          </p:cNvPr>
          <p:cNvSpPr/>
          <p:nvPr/>
        </p:nvSpPr>
        <p:spPr>
          <a:xfrm>
            <a:off x="-66675" y="0"/>
            <a:ext cx="9210675" cy="542834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EF90FB5-69C7-4BC8-AEE1-7406F1AAF0E3}"/>
              </a:ext>
            </a:extLst>
          </p:cNvPr>
          <p:cNvSpPr txBox="1"/>
          <p:nvPr/>
        </p:nvSpPr>
        <p:spPr>
          <a:xfrm>
            <a:off x="590698" y="1020002"/>
            <a:ext cx="5950857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Conclusión:</a:t>
            </a:r>
          </a:p>
          <a:p>
            <a:endParaRPr lang="es-MX" dirty="0"/>
          </a:p>
          <a:p>
            <a:r>
              <a:rPr lang="es-MX" dirty="0"/>
              <a:t>Contactos de Google es la herramienta de administración de contactos de Google que  permite tener tus contactos sincronizados a tu cuenta.</a:t>
            </a:r>
          </a:p>
          <a:p>
            <a:endParaRPr lang="es-MX" dirty="0"/>
          </a:p>
          <a:p>
            <a:r>
              <a:rPr lang="es-MX" dirty="0"/>
              <a:t>Los contactos no tienen que ser necesariamente telefónicos, también admite correos.</a:t>
            </a:r>
          </a:p>
        </p:txBody>
      </p:sp>
    </p:spTree>
    <p:extLst>
      <p:ext uri="{BB962C8B-B14F-4D97-AF65-F5344CB8AC3E}">
        <p14:creationId xmlns:p14="http://schemas.microsoft.com/office/powerpoint/2010/main" val="12396721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88C8C130-026C-4C37-B129-64F03E9A75DE}"/>
              </a:ext>
            </a:extLst>
          </p:cNvPr>
          <p:cNvSpPr/>
          <p:nvPr/>
        </p:nvSpPr>
        <p:spPr>
          <a:xfrm>
            <a:off x="-66675" y="0"/>
            <a:ext cx="9210675" cy="542834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5122" name="Picture 2" descr="Ahrileth - Pana 🤝 | Facebook">
            <a:extLst>
              <a:ext uri="{FF2B5EF4-FFF2-40B4-BE49-F238E27FC236}">
                <a16:creationId xmlns:a16="http://schemas.microsoft.com/office/drawing/2014/main" id="{A0335C37-C9DC-4EFF-9FCA-67F8E8FB1E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8028" y="110861"/>
            <a:ext cx="6247944" cy="5206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13221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88C8C130-026C-4C37-B129-64F03E9A75DE}"/>
              </a:ext>
            </a:extLst>
          </p:cNvPr>
          <p:cNvSpPr/>
          <p:nvPr/>
        </p:nvSpPr>
        <p:spPr>
          <a:xfrm>
            <a:off x="0" y="-1"/>
            <a:ext cx="9210675" cy="542834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pic>
        <p:nvPicPr>
          <p:cNvPr id="2050" name="Picture 2" descr="Memes para contestar (๑・ω-)～♥&amp;quot; - 1💃 | Memes, Memes divertidos, Memes  sarcásticos">
            <a:extLst>
              <a:ext uri="{FF2B5EF4-FFF2-40B4-BE49-F238E27FC236}">
                <a16:creationId xmlns:a16="http://schemas.microsoft.com/office/drawing/2014/main" id="{AF84C064-9ACD-42D8-A5C7-0F86C0C5D7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5109" y="588681"/>
            <a:ext cx="3953782" cy="3966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0134766"/>
      </p:ext>
    </p:extLst>
  </p:cSld>
  <p:clrMapOvr>
    <a:masterClrMapping/>
  </p:clrMapOvr>
</p:sld>
</file>

<file path=ppt/theme/theme1.xml><?xml version="1.0" encoding="utf-8"?>
<a:theme xmlns:a="http://schemas.openxmlformats.org/drawingml/2006/main" name="Artificial Intelligence in Chemistry Services Company Profile by Slidesgo">
  <a:themeElements>
    <a:clrScheme name="Simple Light">
      <a:dk1>
        <a:srgbClr val="000000"/>
      </a:dk1>
      <a:lt1>
        <a:srgbClr val="FFFFFF"/>
      </a:lt1>
      <a:dk2>
        <a:srgbClr val="F60863"/>
      </a:dk2>
      <a:lt2>
        <a:srgbClr val="11000B"/>
      </a:lt2>
      <a:accent1>
        <a:srgbClr val="41046C"/>
      </a:accent1>
      <a:accent2>
        <a:srgbClr val="D16D0B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524</Words>
  <Application>Microsoft Office PowerPoint</Application>
  <PresentationFormat>Presentación en pantalla (16:9)</PresentationFormat>
  <Paragraphs>35</Paragraphs>
  <Slides>10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6" baseType="lpstr">
      <vt:lpstr>Arial</vt:lpstr>
      <vt:lpstr>Calibri</vt:lpstr>
      <vt:lpstr>Maven Pro</vt:lpstr>
      <vt:lpstr>MuseoModerno</vt:lpstr>
      <vt:lpstr>MuseoModerno ExtraBold</vt:lpstr>
      <vt:lpstr>Artificial Intelligence in Chemistry Services Company Profile by Slidesgo</vt:lpstr>
      <vt:lpstr>Contactos de google</vt:lpstr>
      <vt:lpstr>Contenidos </vt:lpstr>
      <vt:lpstr>Fuentes</vt:lpstr>
      <vt:lpstr>Fuentes utilizadas</vt:lpstr>
      <vt:lpstr>¿Qué es Google Contacts?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Contactos de google</dc:title>
  <cp:lastModifiedBy>Hector Camberos</cp:lastModifiedBy>
  <cp:revision>3</cp:revision>
  <dcterms:modified xsi:type="dcterms:W3CDTF">2022-02-20T22:29:55Z</dcterms:modified>
</cp:coreProperties>
</file>